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  <Override PartName="/ppt/media/image3.png" ContentType="image/png"/>
  <Override PartName="/ppt/media/image4.png" ContentType="image/png"/>
  <Override PartName="/ppt/media/image10.png" ContentType="image/png"/>
  <Override PartName="/ppt/media/image6.png" ContentType="image/png"/>
  <Override PartName="/ppt/media/image2.png" ContentType="image/png"/>
  <Override PartName="/ppt/media/image9.png" ContentType="image/png"/>
  <Override PartName="/ppt/media/image7.png" ContentType="image/png"/>
  <Override PartName="/ppt/media/image5.png" ContentType="image/png"/>
  <Override PartName="/ppt/media/image8.png" ContentType="image/png"/>
  <Override PartName="/ppt/notesSlides/notesSlide1.xml" ContentType="application/vnd.openxmlformats-officedocument.presentationml.notesSlide+xml"/>
  <Override PartName="/ppt/notesSlides/_rels/notesSlide1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B453EC-C011-487A-846F-6E44F95A905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4D1F53-8C6E-4AC8-BCA5-598B8B9727B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8E6188-106A-493A-A3F4-059D709B4BD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A74C46-2953-4859-8902-CA1CFE450C8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A3D8E7-DCEC-4F05-940C-B65BE3D22E0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A7CC23-0E6F-418F-A4DB-27CBCDC2368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0D37F38-ABF0-49BF-B19E-460D78A0DCD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56E8EA-3D44-4DDE-8009-06014EA9570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8E137C-4AD8-4227-B85F-FE8C630D46D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430D31-525A-4E81-B967-9AE7D5516A9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github.com/takhogan/opencv-masked-matchtemplate-benchmarking" TargetMode="External"/><Relationship Id="rId2" Type="http://schemas.openxmlformats.org/officeDocument/2006/relationships/hyperlink" Target="https://github.com/takhogan/opencv-masked-matchtemplate-benchmarkin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318960" cy="514260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822960" y="1280160"/>
            <a:ext cx="777132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GPU Acceleration of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Masked Template Matching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960" y="2880360"/>
            <a:ext cx="7771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200" strike="noStrike" u="none">
                <a:solidFill>
                  <a:srgbClr val="e8eef4"/>
                </a:solidFill>
                <a:effectLst/>
                <a:uFillTx/>
                <a:latin typeface="Georgia"/>
                <a:ea typeface="Georgia"/>
              </a:rPr>
              <a:t>A Cross-Platform Study in OpenCV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22960" y="4206240"/>
            <a:ext cx="7771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8eef4"/>
                </a:solidFill>
                <a:effectLst/>
                <a:uFillTx/>
                <a:latin typeface="Calibri"/>
                <a:ea typeface="Calibri"/>
              </a:rPr>
              <a:t>Tak Hogan   ·   takhogan@gmail.com   ·   May 2026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274320"/>
            <a:ext cx="8228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1295c"/>
                </a:solidFill>
                <a:effectLst/>
                <a:uFillTx/>
                <a:latin typeface="Georgia"/>
                <a:ea typeface="Georgia"/>
              </a:rPr>
              <a:t>Masked Template Matching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57200" y="960120"/>
            <a:ext cx="8228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For every offset (x,y), correlate template T against image I, weighted per-pixel by mask M: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1371600" y="1508760"/>
            <a:ext cx="6399720" cy="867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914400" y="1508760"/>
            <a:ext cx="73141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R(x,y) = Σ M(u,v)² · I(x+u, y+v) · T(u,v)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457200" y="2514600"/>
            <a:ext cx="8228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(TM_CCORR; analogous for TM_SQDIFF and the normed variants)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457200" y="3017520"/>
            <a:ext cx="8228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5a82"/>
                </a:solidFill>
                <a:effectLst/>
                <a:uFillTx/>
                <a:latin typeface="Georgia"/>
                <a:ea typeface="Georgia"/>
              </a:rPr>
              <a:t>Why GPUs should be a great fit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640080" y="3383280"/>
            <a:ext cx="804564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Every output pixel is independent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Inner loop is a small dense dot product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Inputs fit comfortably in modern GPU memory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457200" y="480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Tak Hogan  ·  GPU Masked Template Matching  ·  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457200" y="274320"/>
            <a:ext cx="8228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1295c"/>
                </a:solidFill>
                <a:effectLst/>
                <a:uFillTx/>
                <a:latin typeface="Georgia"/>
                <a:ea typeface="Georgia"/>
              </a:rPr>
              <a:t>Objective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57200" y="1005840"/>
            <a:ext cx="8228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trike="noStrike" u="none">
                <a:solidFill>
                  <a:srgbClr val="065a82"/>
                </a:solidFill>
                <a:effectLst/>
                <a:uFillTx/>
                <a:latin typeface="Georgia"/>
                <a:ea typeface="Georgia"/>
              </a:rPr>
              <a:t>Implementing masked version of matchTemplate on the GPU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457200" y="2011680"/>
            <a:ext cx="3930840" cy="246780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457200" y="2011680"/>
            <a:ext cx="72000" cy="2467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685800" y="210312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1295c"/>
                </a:solidFill>
                <a:effectLst/>
                <a:uFillTx/>
                <a:latin typeface="Georgia"/>
                <a:ea typeface="Georgia"/>
              </a:rPr>
              <a:t>Motivation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685800" y="2514600"/>
            <a:ext cx="365652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Masked matchTemplate is useful when the template is not rectangular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Useful in general when looking for a low-power computer vision solution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Can be used for UI navigation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Specific example: testing for business visibility in google maps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GPU version could speedup this operation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6"/>
          <p:cNvSpPr/>
          <p:nvPr/>
        </p:nvSpPr>
        <p:spPr>
          <a:xfrm>
            <a:off x="4754880" y="2011680"/>
            <a:ext cx="3930840" cy="246780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7"/>
          <p:cNvSpPr/>
          <p:nvPr/>
        </p:nvSpPr>
        <p:spPr>
          <a:xfrm>
            <a:off x="4754880" y="2011680"/>
            <a:ext cx="72000" cy="246780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8"/>
          <p:cNvSpPr/>
          <p:nvPr/>
        </p:nvSpPr>
        <p:spPr>
          <a:xfrm>
            <a:off x="4983480" y="210312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1295c"/>
                </a:solidFill>
                <a:effectLst/>
                <a:uFillTx/>
                <a:latin typeface="Georgia"/>
                <a:ea typeface="Georgia"/>
              </a:rPr>
              <a:t>Current OpenCV Library Coverage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4983480" y="2514600"/>
            <a:ext cx="365652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Unmasked matchTemplate has a GPU/CUDA implementation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OpenCV's masked matchTemplate has only a CPU implementation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457200" y="480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Tak Hogan  ·  GPU Masked Template Matching  ·  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457200" y="274320"/>
            <a:ext cx="8228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1295c"/>
                </a:solidFill>
                <a:effectLst/>
                <a:uFillTx/>
                <a:latin typeface="Georgia"/>
                <a:ea typeface="Georgia"/>
              </a:rPr>
              <a:t>Project Implementation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457200" y="9601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Modified modules/imgproc/src/templmatch.cpp — added two direct OpenCL kernels for masked TM_CCORR and TM_SQDIFF (and their normed variants) and an CUDA kernel.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457200" y="1691640"/>
            <a:ext cx="2514600" cy="219456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457200" y="1691640"/>
            <a:ext cx="2514600" cy="438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594360" y="1691640"/>
            <a:ext cx="3656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Naive kernel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640080" y="2286000"/>
            <a:ext cx="233172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One work-item per output pixel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Computes masked dot product directly from global memory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Vectorized loads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6"/>
          <p:cNvSpPr/>
          <p:nvPr/>
        </p:nvSpPr>
        <p:spPr>
          <a:xfrm>
            <a:off x="3200400" y="1691640"/>
            <a:ext cx="2743200" cy="228492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7"/>
          <p:cNvSpPr/>
          <p:nvPr/>
        </p:nvSpPr>
        <p:spPr>
          <a:xfrm>
            <a:off x="3200400" y="1691640"/>
            <a:ext cx="2743200" cy="4561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3430080" y="1691640"/>
            <a:ext cx="1599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Tiled kernel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9"/>
          <p:cNvSpPr/>
          <p:nvPr/>
        </p:nvSpPr>
        <p:spPr>
          <a:xfrm>
            <a:off x="3429000" y="2286000"/>
            <a:ext cx="21488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__local-memory variant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Stages a slab of the image into local memory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Reuses the slab across an output stripe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457200" y="41605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Dispatcher ocl_matchTemplateMask routes very small templates to the naive kernel; everything else falls through to the existing FFT path.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457200" y="480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Tak Hogan  ·  GPU Masked Template Matching  ·  5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5"/>
          <p:cNvSpPr/>
          <p:nvPr/>
        </p:nvSpPr>
        <p:spPr>
          <a:xfrm>
            <a:off x="6172200" y="1709280"/>
            <a:ext cx="2743200" cy="228492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8"/>
          <p:cNvSpPr/>
          <p:nvPr/>
        </p:nvSpPr>
        <p:spPr>
          <a:xfrm>
            <a:off x="6172200" y="1709280"/>
            <a:ext cx="2743200" cy="456120"/>
          </a:xfrm>
          <a:prstGeom prst="rect">
            <a:avLst/>
          </a:prstGeom>
          <a:solidFill>
            <a:srgbClr val="21295c"/>
          </a:solidFill>
          <a:ln w="12700">
            <a:solidFill>
              <a:srgbClr val="f2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6401880" y="1709280"/>
            <a:ext cx="1599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CUDA kernel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6400800" y="2303640"/>
            <a:ext cx="21488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Similar approach using FFT or taking the naive approach depending on template size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457200" y="274320"/>
            <a:ext cx="8228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1295c"/>
                </a:solidFill>
                <a:effectLst/>
                <a:uFillTx/>
                <a:latin typeface="Georgia"/>
                <a:ea typeface="Georgia"/>
              </a:rPr>
              <a:t>Benchmark Method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469800" y="816120"/>
            <a:ext cx="3885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5a82"/>
                </a:solidFill>
                <a:effectLst/>
                <a:uFillTx/>
                <a:latin typeface="Georgia"/>
                <a:ea typeface="Georgia"/>
              </a:rPr>
              <a:t>Testing Module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640080" y="1325880"/>
            <a:ext cx="402264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masked_template_match.py spawns a fresh subprocess per cv2 build (original vs. new) — no library state leaks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Worker runs each (scenario, method, backend): 1 warm-up + 10 timed iterations; reports mean and stddev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Raw outputs written to disk so the orchestrator verifies numerical agreement between builds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457200" y="2743200"/>
            <a:ext cx="4114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5a82"/>
                </a:solidFill>
                <a:effectLst/>
                <a:uFillTx/>
                <a:latin typeface="Georgia"/>
                <a:ea typeface="Georgia"/>
              </a:rPr>
              <a:t>Scenarios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640080" y="3108960"/>
            <a:ext cx="40226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Synthetic: 2048×2048 random image, 128×128 template, circular mask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Real: Cartesian product of 5 map screenshots × 11 POI icon templates with hand-drawn masks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Methods measured: TM_CCORR_NORMED and TM_SQDIFF_NORMED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457200" y="480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Tak Hogan  ·  GPU Masked Template Matching  ·  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Picture 54" descr="annotated__maps_test_frame_000025__x__attraction.png"/>
          <p:cNvPicPr/>
          <p:nvPr/>
        </p:nvPicPr>
        <p:blipFill>
          <a:blip r:embed="rId1"/>
          <a:stretch/>
        </p:blipFill>
        <p:spPr>
          <a:xfrm>
            <a:off x="4663440" y="960120"/>
            <a:ext cx="4114080" cy="267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Box 55"/>
          <p:cNvSpPr/>
          <p:nvPr/>
        </p:nvSpPr>
        <p:spPr>
          <a:xfrm>
            <a:off x="4663440" y="3650760"/>
            <a:ext cx="4114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Map screenshot — green box marks the 'attraction' POI icon located via TM_CCORR_NORMED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Picture 56" descr="attraction.png"/>
          <p:cNvPicPr/>
          <p:nvPr/>
        </p:nvPicPr>
        <p:blipFill>
          <a:blip r:embed="rId2"/>
          <a:stretch/>
        </p:blipFill>
        <p:spPr>
          <a:xfrm>
            <a:off x="4864680" y="403488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57" descr="bar.png"/>
          <p:cNvPicPr/>
          <p:nvPr/>
        </p:nvPicPr>
        <p:blipFill>
          <a:blip r:embed="rId3"/>
          <a:stretch/>
        </p:blipFill>
        <p:spPr>
          <a:xfrm>
            <a:off x="5340240" y="403488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Picture 58" descr="cafe.png"/>
          <p:cNvPicPr/>
          <p:nvPr/>
        </p:nvPicPr>
        <p:blipFill>
          <a:blip r:embed="rId4"/>
          <a:stretch/>
        </p:blipFill>
        <p:spPr>
          <a:xfrm>
            <a:off x="5815440" y="403488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Picture 59" descr="education.png"/>
          <p:cNvPicPr/>
          <p:nvPr/>
        </p:nvPicPr>
        <p:blipFill>
          <a:blip r:embed="rId5"/>
          <a:stretch/>
        </p:blipFill>
        <p:spPr>
          <a:xfrm>
            <a:off x="6291000" y="403488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Picture 60" descr="landmark.png"/>
          <p:cNvPicPr/>
          <p:nvPr/>
        </p:nvPicPr>
        <p:blipFill>
          <a:blip r:embed="rId6"/>
          <a:stretch/>
        </p:blipFill>
        <p:spPr>
          <a:xfrm>
            <a:off x="6766560" y="403488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61" descr="park.png"/>
          <p:cNvPicPr/>
          <p:nvPr/>
        </p:nvPicPr>
        <p:blipFill>
          <a:blip r:embed="rId7"/>
          <a:stretch/>
        </p:blipFill>
        <p:spPr>
          <a:xfrm>
            <a:off x="7242120" y="403488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Picture 62" descr="restaurant.png"/>
          <p:cNvPicPr/>
          <p:nvPr/>
        </p:nvPicPr>
        <p:blipFill>
          <a:blip r:embed="rId8"/>
          <a:stretch/>
        </p:blipFill>
        <p:spPr>
          <a:xfrm>
            <a:off x="7717680" y="403488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63" descr="shopping.png"/>
          <p:cNvPicPr/>
          <p:nvPr/>
        </p:nvPicPr>
        <p:blipFill>
          <a:blip r:embed="rId9"/>
          <a:stretch/>
        </p:blipFill>
        <p:spPr>
          <a:xfrm>
            <a:off x="8192880" y="403488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Box 64"/>
          <p:cNvSpPr/>
          <p:nvPr/>
        </p:nvSpPr>
        <p:spPr>
          <a:xfrm>
            <a:off x="4663440" y="443736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POI icon templates (each with a hand-drawn alpha mask)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457200" y="274320"/>
            <a:ext cx="8228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1295c"/>
                </a:solidFill>
                <a:effectLst/>
                <a:uFillTx/>
                <a:latin typeface="Georgia"/>
                <a:ea typeface="Georgia"/>
              </a:rPr>
              <a:t>Three Machines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"/>
          <p:cNvSpPr/>
          <p:nvPr/>
        </p:nvSpPr>
        <p:spPr>
          <a:xfrm>
            <a:off x="457200" y="1097280"/>
            <a:ext cx="2586600" cy="338220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457200" y="1097280"/>
            <a:ext cx="2586600" cy="501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594360" y="1097280"/>
            <a:ext cx="23763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Mac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594360" y="1645920"/>
            <a:ext cx="2376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2021 Apple M1, macOS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594360" y="2011680"/>
            <a:ext cx="2330640" cy="23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Integrated GPU exposed via Apple's deprecated OpenCL stack.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3355920" y="1097280"/>
            <a:ext cx="2586600" cy="338220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3355920" y="1097280"/>
            <a:ext cx="2586600" cy="501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3493080" y="1097280"/>
            <a:ext cx="23763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CUDA Workstation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3493080" y="1645920"/>
            <a:ext cx="2376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Google Colab Linux Instance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3493080" y="2011680"/>
            <a:ext cx="2330640" cy="23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NVIDIA discrete GPU; OpenCL via NVIDIA runtime, plus cv2.cuda backend.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6245280" y="1097280"/>
            <a:ext cx="2586600" cy="338220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2"/>
          <p:cNvSpPr/>
          <p:nvPr/>
        </p:nvSpPr>
        <p:spPr>
          <a:xfrm>
            <a:off x="6245280" y="1097280"/>
            <a:ext cx="2586600" cy="5018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6382440" y="1097280"/>
            <a:ext cx="23763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Windows Desktop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6382440" y="1645920"/>
            <a:ext cx="2376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2016-era Dell OptiPlex 7020 SFF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6382440" y="2011680"/>
            <a:ext cx="2330640" cy="23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Intel Core i5-4590 @ 3.30 GHz, 16 GB RAM, AMD Radeon discrete GPU via vendor OpenCL runtime.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457200" y="480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Tak Hogan  ·  GPU Masked Template Matching  ·  7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"/>
          <p:cNvSpPr/>
          <p:nvPr/>
        </p:nvSpPr>
        <p:spPr>
          <a:xfrm>
            <a:off x="457200" y="274320"/>
            <a:ext cx="8228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1295c"/>
                </a:solidFill>
                <a:effectLst/>
                <a:uFillTx/>
                <a:latin typeface="Georgia"/>
                <a:ea typeface="Georgia"/>
              </a:rPr>
              <a:t>Results: Machine Dependent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Chart" descr=""/>
          <p:cNvPicPr/>
          <p:nvPr/>
        </p:nvPicPr>
        <p:blipFill>
          <a:blip r:embed="rId1"/>
          <a:stretch/>
        </p:blipFill>
        <p:spPr>
          <a:xfrm>
            <a:off x="457200" y="1051560"/>
            <a:ext cx="8228520" cy="293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Footer"/>
          <p:cNvSpPr/>
          <p:nvPr/>
        </p:nvSpPr>
        <p:spPr>
          <a:xfrm>
            <a:off x="457200" y="480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Tak Hogan  ·  GPU Masked Template Matching  ·  12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457200" y="274320"/>
            <a:ext cx="8228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1295c"/>
                </a:solidFill>
                <a:effectLst/>
                <a:uFillTx/>
                <a:latin typeface="Georgia"/>
                <a:ea typeface="Georgia"/>
              </a:rPr>
              <a:t>When and Why the GPU Wins (or Doesn't)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"/>
          <p:cNvSpPr/>
          <p:nvPr/>
        </p:nvSpPr>
        <p:spPr>
          <a:xfrm>
            <a:off x="457200" y="1051560"/>
            <a:ext cx="72000" cy="77616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640080" y="1051560"/>
            <a:ext cx="8228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1295c"/>
                </a:solidFill>
                <a:effectLst/>
                <a:uFillTx/>
                <a:latin typeface="Georgia"/>
                <a:ea typeface="Georgia"/>
              </a:rPr>
              <a:t>Driver / runtime maturity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640080" y="1344240"/>
            <a:ext cx="80456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NVIDIA CUDA &amp; OpenCL well tuned. Windows OpenCL tuned for the device. Apple's deprecated OpenCL runs poorly despite good hardware.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457200" y="1938600"/>
            <a:ext cx="72000" cy="77616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640080" y="1938600"/>
            <a:ext cx="8228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1295c"/>
                </a:solidFill>
                <a:effectLst/>
                <a:uFillTx/>
                <a:latin typeface="Georgia"/>
                <a:ea typeface="Georgia"/>
              </a:rPr>
              <a:t>Kernel launch &amp; setup overhead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640080" y="2231280"/>
            <a:ext cx="80456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Each call runs in milliseconds — JIT compile, buffer alloc, memory transfer &amp; allocation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0"/>
          <p:cNvSpPr/>
          <p:nvPr/>
        </p:nvSpPr>
        <p:spPr>
          <a:xfrm>
            <a:off x="457200" y="2917800"/>
            <a:ext cx="72000" cy="77616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640080" y="2917800"/>
            <a:ext cx="8228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1295c"/>
                </a:solidFill>
                <a:effectLst/>
                <a:uFillTx/>
                <a:latin typeface="Georgia"/>
                <a:ea typeface="Georgia"/>
              </a:rPr>
              <a:t>Workload size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640080" y="3210480"/>
            <a:ext cx="80456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Synthetic 2048×2048 / 128×128: GPU dominates everywhere except macOS. Small POI templates: gap narrows but trend holds.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457200" y="480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Tak Hogan  ·  GPU Masked Template Matching  ·  9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318960" cy="514260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822960" y="457200"/>
            <a:ext cx="7771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Conclusion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822960" y="1188720"/>
            <a:ext cx="7771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trike="noStrike" u="none">
                <a:solidFill>
                  <a:srgbClr val="f2a65a"/>
                </a:solidFill>
                <a:effectLst/>
                <a:uFillTx/>
                <a:latin typeface="Georgia"/>
                <a:ea typeface="Georgia"/>
              </a:rPr>
              <a:t>GPU can improve performance where the runtime is healthy.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914400" y="1828800"/>
            <a:ext cx="75884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8eef4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8eef4"/>
                </a:solidFill>
                <a:effectLst/>
                <a:uFillTx/>
                <a:latin typeface="Calibri"/>
                <a:ea typeface="Calibri"/>
              </a:rPr>
              <a:t>Modern NVIDIA discrete GPU: speedup over CPU baseline – OpenCL performs well, CUDA performs best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8eef4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8eef4"/>
                </a:solidFill>
                <a:effectLst/>
                <a:uFillTx/>
                <a:latin typeface="Calibri"/>
                <a:ea typeface="Calibri"/>
              </a:rPr>
              <a:t>2016-era Windows discrete GPU: speedup over CPU baseline – OpenCL still optimized and performs well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8eef4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8eef4"/>
                </a:solidFill>
                <a:effectLst/>
                <a:uFillTx/>
                <a:latin typeface="Calibri"/>
                <a:ea typeface="Calibri"/>
              </a:rPr>
              <a:t>Apple Silicon: slowdown - OpenCL is deprecated and does not perform well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822960" y="3611880"/>
            <a:ext cx="7771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Future work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914400" y="3977640"/>
            <a:ext cx="75884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e8eef4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e8eef4"/>
                </a:solidFill>
                <a:effectLst/>
                <a:uFillTx/>
                <a:latin typeface="Calibri"/>
                <a:ea typeface="Calibri"/>
              </a:rPr>
              <a:t>Metal backend for the masked path on macOS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457200" y="274320"/>
            <a:ext cx="8228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1295c"/>
                </a:solidFill>
                <a:effectLst/>
                <a:uFillTx/>
                <a:latin typeface="Georgia"/>
                <a:ea typeface="Georgia"/>
              </a:rPr>
              <a:t>Reproducibility &amp; References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457200" y="1005840"/>
            <a:ext cx="8228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5a82"/>
                </a:solidFill>
                <a:effectLst/>
                <a:uFillTx/>
                <a:latin typeface="Georgia"/>
                <a:ea typeface="Georgia"/>
              </a:rPr>
              <a:t>Reproducibility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640080" y="1371600"/>
            <a:ext cx="80456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Mac / Linux:  ./setup.sh followed by ./run.sh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Windows:  ./setup.ps1 followed by ./run.ps1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93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Requirements: cmake on PATH, numpy installed via pip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457200" y="2788920"/>
            <a:ext cx="8228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5a82"/>
                </a:solidFill>
                <a:effectLst/>
                <a:uFillTx/>
                <a:latin typeface="Georgia"/>
                <a:ea typeface="Georgia"/>
              </a:rPr>
              <a:t>Repository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">
            <a:hlinkClick r:id="rId1"/>
          </p:cNvPr>
          <p:cNvSpPr/>
          <p:nvPr/>
        </p:nvSpPr>
        <p:spPr>
          <a:xfrm>
            <a:off x="640080" y="3154680"/>
            <a:ext cx="8045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sng">
                <a:solidFill>
                  <a:srgbClr val="0563c1"/>
                </a:solidFill>
                <a:effectLst/>
                <a:uFillTx/>
                <a:latin typeface="Consolas"/>
                <a:ea typeface="Consolas"/>
                <a:hlinkClick r:id="rId2"/>
              </a:rPr>
              <a:t>github.com/takhogan/opencv-masked-matchtemplate-benchmarking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457200" y="3657600"/>
            <a:ext cx="8228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65a82"/>
                </a:solidFill>
                <a:effectLst/>
                <a:uFillTx/>
                <a:latin typeface="Georgia"/>
                <a:ea typeface="Georgia"/>
              </a:rPr>
              <a:t>Reference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640080" y="4023360"/>
            <a:ext cx="8045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OpenCV — Object Detection: cv::matchTemplate (4.x reference docs)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457200" y="480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Tak Hogan  ·  GPU Masked Template Matching  ·  11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LibreOffice/25.8.1.1$MacOSX_AARCH64 LibreOffice_project/54047653041915e595ad4e45cccea684809c77b5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2026-05-03T20:38:04Z</dcterms:created>
  <dc:creator>Tak Hogan</dc:creator>
  <dc:description/>
  <dc:language>en-US</dc:language>
  <cp:lastModifiedBy/>
  <dcterms:modified xsi:type="dcterms:W3CDTF">2026-05-05T05:17:19Z</dcterms:modified>
  <cp:revision>4</cp:revision>
  <dc:subject>PptxGenJS Presentation</dc:subject>
  <dc:title>Can the GPU Accelerate Masked Template Matching?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